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137307d5-81c9-dead-01a5-5e284a85a038}">
          <p14:sldIdLst>
            <p14:sldId id="256"/>
            <p14:sldId id="257"/>
            <p14:sldId id="258"/>
            <p14:sldId id="259"/>
            <p14:sldId id="260"/>
          </p14:sldIdLst>
        </p14:section>
        <p14:section name="Technologies" id="{bda6532c-c23c-450b-5a00-40fce746190a}">
          <p14:sldIdLst>
            <p14:sldId id="261"/>
            <p14:sldId id="262"/>
            <p14:sldId id="263"/>
          </p14:sldIdLst>
        </p14:section>
        <p14:section name="Database" id="{645b88e6-0c04-2fa8-374f-d5f19b2a71bf}">
          <p14:sldIdLst>
            <p14:sldId id="264"/>
            <p14:sldId id="265"/>
            <p14:sldId id="266"/>
          </p14:sldIdLst>
        </p14:section>
        <p14:section name="Backend" id="{c5480e70-ca05-004d-52c7-fde51da09ee7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Analytics" id="{c2c2fd33-c95c-7ca8-8bdc-1a6ecbc4acf3}">
          <p14:sldIdLst>
            <p14:sldId id="275"/>
            <p14:sldId id="276"/>
          </p14:sldIdLst>
        </p14:section>
        <p14:section name="Frontend, Testing and Deployment" id="{50da207f-e493-14e4-f2dc-29c10b7cdf5f}">
          <p14:sldIdLst>
            <p14:sldId id="277"/>
            <p14:sldId id="278"/>
            <p14:sldId id="279"/>
            <p14:sldId id="280"/>
            <p14:sldId id="281"/>
          </p14:sldIdLst>
        </p14:section>
        <p14:section name="Screenshots of the Website" id="{60097c39-4cee-123a-dcd3-c8d69df4c845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Running the Website" id="{f92cf0ae-9e45-21fb-71b7-6d132ef66b7e}">
          <p14:sldIdLst>
            <p14:sldId id="292"/>
            <p14:sldId id="293"/>
          </p14:sldIdLst>
        </p14:section>
        <p14:section name="Summary" id="{34f9d32f-70d6-c9d7-626d-004e433cf170}">
          <p14:sldIdLst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LendEase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LENDEASE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Loan Comparison &amp; Financial Analytics Platform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5669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TITLE: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LendEase, a loan comparison website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SUBTITLE: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Compare rates, calculate EMI, decide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BY: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[Your name]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SEAT NO: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[Your seat number]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PROJECT TYPE: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[Minor / major project and subject]</a:t>
            </a:r>
            <a:endParaRPr lang="en-US" sz="17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700" b="1" dirty="0">
                <a:solidFill>
                  <a:schemeClr val="accent3"/>
                </a:solidFill>
              </a:rPr>
              <a:t>YEAR: </a:t>
            </a:r>
            <a:pPr indent="0" marL="0">
              <a:spcAft>
                <a:spcPts val="7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2026-27</a:t>
            </a:r>
            <a:endParaRPr lang="en-US" sz="1700" dirty="0"/>
          </a:p>
        </p:txBody>
      </p:sp>
      <p:pic>
        <p:nvPicPr>
          <p:cNvPr id="5" name="Image home_hero" descr="LendEase home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9566"/>
            <a:ext cx="5074920" cy="2378869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675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What is LendEase?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website that puts loan offers from six major Indian banks side by side, so a borrower can compare interest rates, fees and monthly EMI in one place.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Why this project?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Every bank lists its rates on a different page in a different format. Comparing them by hand is slow, and a small difference in rate changes the total cost by lakhs over a long loan.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Project goal: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Build a complete web application with a real database: compare loans, calculate EMI, save offers, manage the data as an admin, and show analytics as graphs and pie charts.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Important: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LendEase is a comparison and learning tool, not a lender. It uses reference data, and every record shows its source and last-updated date.</a:t>
            </a:r>
            <a:endParaRPr lang="en-US" sz="1600" dirty="0"/>
          </a:p>
        </p:txBody>
      </p:sp>
      <p:sp>
        <p:nvSpPr>
          <p:cNvPr id="4" name="Card At a glance"/>
          <p:cNvSpPr/>
          <p:nvPr/>
        </p:nvSpPr>
        <p:spPr>
          <a:xfrm>
            <a:off x="7772400" y="1371600"/>
            <a:ext cx="3867912" cy="4754880"/>
          </a:xfrm>
          <a:prstGeom prst="roundRect">
            <a:avLst>
              <a:gd name="adj" fmla="val 283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0" y="155448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At a glance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2057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banks: SBI, HDFC, ICICI, Axis, Kotak, PNB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3474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loan types: home, personal, car, education, business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4892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loan products in the database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Card Challenge"/>
          <p:cNvSpPr/>
          <p:nvPr/>
        </p:nvSpPr>
        <p:spPr>
          <a:xfrm>
            <a:off x="548640" y="1463040"/>
            <a:ext cx="3520440" cy="3657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Challenge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84832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Loan information is scattered across bank websites.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Each bank quotes a range of rates, fees and tenures in its own format.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Working out the EMI for each offer by hand is slow and easy to get wrong.</a:t>
            </a:r>
            <a:endParaRPr lang="en-US" sz="1500" dirty="0"/>
          </a:p>
        </p:txBody>
      </p:sp>
      <p:sp>
        <p:nvSpPr>
          <p:cNvPr id="6" name="Card Our solution"/>
          <p:cNvSpPr/>
          <p:nvPr/>
        </p:nvSpPr>
        <p:spPr>
          <a:xfrm>
            <a:off x="4343400" y="1463040"/>
            <a:ext cx="3520440" cy="3657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45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Our solution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084832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One website backed by a MySQL database of loan products.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Filter by loan type, amount, tenure, bank and rate.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EMI is calculated automatically for every offer.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Graphs and pie charts summarise the data.</a:t>
            </a:r>
            <a:endParaRPr lang="en-US" sz="1500" dirty="0"/>
          </a:p>
        </p:txBody>
      </p:sp>
      <p:sp>
        <p:nvSpPr>
          <p:cNvPr id="9" name="Card Impact"/>
          <p:cNvSpPr/>
          <p:nvPr/>
        </p:nvSpPr>
        <p:spPr>
          <a:xfrm>
            <a:off x="8138160" y="1463040"/>
            <a:ext cx="3520440" cy="365760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645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Impact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084832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Comparison in seconds instead of visiting six websites.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Lowest rate and lowest EMI highlighted clearly.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Users can save offers and repeat earlier searches.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Admins can update rates, with every change recorded.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Result: a working website, live at lendease-ten.vercel.app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Source: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reference data modelled on the ranges banks advertise publicly. It is demo data for this project, not live rates.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Composition: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 banks x 5 loan types = 30 loan products, stored in MySQL.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Sample activity: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demo accounts with saved offers and search history, so the dashboard and charts have data.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Fields stored for each loan product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15968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Bank, loan type and product name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Lowest and highest interest rate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Minimum and maximum amount and tenure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Processing fee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Source URL and last-updated date</a:t>
            </a:r>
            <a:endParaRPr lang="en-US" sz="1400" dirty="0"/>
          </a:p>
        </p:txBody>
      </p:sp>
      <p:pic>
        <p:nvPicPr>
          <p:cNvPr id="6" name="Image admin_products_top" descr="Loan products table in the admin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71600"/>
            <a:ext cx="6199632" cy="368103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7" name="Frame admin_products_top"/>
          <p:cNvSpPr/>
          <p:nvPr/>
        </p:nvSpPr>
        <p:spPr>
          <a:xfrm>
            <a:off x="5440680" y="1371600"/>
            <a:ext cx="6199632" cy="3681032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40680" y="5230368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The loan products table, as shown in the admin panel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Methodology Overview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6304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Step 1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Requirements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700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Decide the pages, features and data needed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374136" y="146304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602736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0273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02736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Database design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02736" y="26700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6 tables with keys and constraints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199632" y="146304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Step 3"/>
          <p:cNvSpPr/>
          <p:nvPr/>
        </p:nvSpPr>
        <p:spPr>
          <a:xfrm>
            <a:off x="6428232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823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28232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Sample data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28232" y="26700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Load 6 banks and 30 loan products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9025128" y="146304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Step 4"/>
          <p:cNvSpPr/>
          <p:nvPr/>
        </p:nvSpPr>
        <p:spPr>
          <a:xfrm>
            <a:off x="9253728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5372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53728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Backend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267004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Flask routes and SQL queries in app.py</a:t>
            </a:r>
            <a:endParaRPr lang="en-US" sz="1400" dirty="0"/>
          </a:p>
        </p:txBody>
      </p:sp>
      <p:sp>
        <p:nvSpPr>
          <p:cNvPr id="23" name="Step card 5"/>
          <p:cNvSpPr/>
          <p:nvPr/>
        </p:nvSpPr>
        <p:spPr>
          <a:xfrm>
            <a:off x="548640" y="361188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Step 5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434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Frontend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81888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HTML templates, CSS and JavaScript</a:t>
            </a:r>
            <a:endParaRPr lang="en-US" sz="1400" dirty="0"/>
          </a:p>
        </p:txBody>
      </p:sp>
      <p:sp>
        <p:nvSpPr>
          <p:cNvPr id="28" name="Step card 6"/>
          <p:cNvSpPr/>
          <p:nvPr/>
        </p:nvSpPr>
        <p:spPr>
          <a:xfrm>
            <a:off x="3374136" y="361188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9" name="Step 6"/>
          <p:cNvSpPr/>
          <p:nvPr/>
        </p:nvSpPr>
        <p:spPr>
          <a:xfrm>
            <a:off x="3602736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02736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602736" y="4434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Analytics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3602736" y="481888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GROUP BY queries drawn as charts</a:t>
            </a:r>
            <a:endParaRPr lang="en-US" sz="1400" dirty="0"/>
          </a:p>
        </p:txBody>
      </p:sp>
      <p:sp>
        <p:nvSpPr>
          <p:cNvPr id="33" name="Step card 7"/>
          <p:cNvSpPr/>
          <p:nvPr/>
        </p:nvSpPr>
        <p:spPr>
          <a:xfrm>
            <a:off x="6199632" y="361188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Step 7"/>
          <p:cNvSpPr/>
          <p:nvPr/>
        </p:nvSpPr>
        <p:spPr>
          <a:xfrm>
            <a:off x="6428232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28232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28232" y="4434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Testing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6428232" y="481888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48 automated tests with pytest</a:t>
            </a:r>
            <a:endParaRPr lang="en-US" sz="1400" dirty="0"/>
          </a:p>
        </p:txBody>
      </p:sp>
      <p:sp>
        <p:nvSpPr>
          <p:cNvPr id="38" name="Step card 8"/>
          <p:cNvSpPr/>
          <p:nvPr/>
        </p:nvSpPr>
        <p:spPr>
          <a:xfrm>
            <a:off x="9025128" y="3611880"/>
            <a:ext cx="260604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Step 8"/>
          <p:cNvSpPr/>
          <p:nvPr/>
        </p:nvSpPr>
        <p:spPr>
          <a:xfrm>
            <a:off x="9253728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5372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9253728" y="4434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Deployment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9253728" y="481888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Hosted on Vercel with a cloud database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Step-by-step approach: each step was finished and checked before starting the next.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Technologies Used</a:t>
            </a:r>
            <a:endParaRPr lang="en-US" sz="3200" dirty="0"/>
          </a:p>
        </p:txBody>
      </p:sp>
      <p:sp>
        <p:nvSpPr>
          <p:cNvPr id="3" name="Card Python"/>
          <p:cNvSpPr/>
          <p:nvPr/>
        </p:nvSpPr>
        <p:spPr>
          <a:xfrm>
            <a:off x="548640" y="1371600"/>
            <a:ext cx="5120640" cy="1478280"/>
          </a:xfrm>
          <a:prstGeom prst="roundRect">
            <a:avLst>
              <a:gd name="adj" fmla="val 742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Python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93392"/>
            <a:ext cx="46634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What: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General-purpose programming language.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Simple to read, with good web and database libraries.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Where: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All backend code in app.py and the helper scripts.</a:t>
            </a:r>
            <a:endParaRPr lang="en-US" sz="1400" dirty="0"/>
          </a:p>
        </p:txBody>
      </p:sp>
      <p:sp>
        <p:nvSpPr>
          <p:cNvPr id="6" name="Card Flask"/>
          <p:cNvSpPr/>
          <p:nvPr/>
        </p:nvSpPr>
        <p:spPr>
          <a:xfrm>
            <a:off x="548640" y="3078480"/>
            <a:ext cx="5120640" cy="1478280"/>
          </a:xfrm>
          <a:prstGeom prst="roundRect">
            <a:avLst>
              <a:gd name="adj" fmla="val 742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261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Flask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0272"/>
            <a:ext cx="46634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What: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small Python web framework.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Turns Python functions into web pages and APIs.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Where: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route: home, compare, login, admin, analytics.</a:t>
            </a:r>
            <a:endParaRPr lang="en-US" sz="1400" dirty="0"/>
          </a:p>
        </p:txBody>
      </p:sp>
      <p:sp>
        <p:nvSpPr>
          <p:cNvPr id="9" name="Card MySQL"/>
          <p:cNvSpPr/>
          <p:nvPr/>
        </p:nvSpPr>
        <p:spPr>
          <a:xfrm>
            <a:off x="548640" y="4785360"/>
            <a:ext cx="5120640" cy="1478280"/>
          </a:xfrm>
          <a:prstGeom prst="roundRect">
            <a:avLst>
              <a:gd name="adj" fmla="val 742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968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MySQL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407152"/>
            <a:ext cx="46634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What: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Relational database.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Tables, keys, JOINs and GROUP BY fit loan data well.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Where: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Stores banks, loan products, users and saved offers.</a:t>
            </a:r>
            <a:endParaRPr lang="en-US" sz="1400" dirty="0"/>
          </a:p>
        </p:txBody>
      </p:sp>
      <p:pic>
        <p:nvPicPr>
          <p:cNvPr id="12" name="Image imports" descr="Code: impo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96712" cy="432575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Technologies Used (continued)</a:t>
            </a:r>
            <a:endParaRPr lang="en-US" sz="3200" dirty="0"/>
          </a:p>
        </p:txBody>
      </p:sp>
      <p:sp>
        <p:nvSpPr>
          <p:cNvPr id="3" name="Card PyMySQL"/>
          <p:cNvSpPr/>
          <p:nvPr/>
        </p:nvSpPr>
        <p:spPr>
          <a:xfrm>
            <a:off x="548640" y="1371600"/>
            <a:ext cx="5120640" cy="1478280"/>
          </a:xfrm>
          <a:prstGeom prst="roundRect">
            <a:avLst>
              <a:gd name="adj" fmla="val 742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PyMySQL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93392"/>
            <a:ext cx="46634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What: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Python driver for MySQL.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Runs raw SQL with %s placeholders, with no ORM.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Where: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query() and execute() helpers in app.py.</a:t>
            </a:r>
            <a:endParaRPr lang="en-US" sz="1400" dirty="0"/>
          </a:p>
        </p:txBody>
      </p:sp>
      <p:sp>
        <p:nvSpPr>
          <p:cNvPr id="6" name="Card HTML, CSS and JavaScript"/>
          <p:cNvSpPr/>
          <p:nvPr/>
        </p:nvSpPr>
        <p:spPr>
          <a:xfrm>
            <a:off x="548640" y="3078480"/>
            <a:ext cx="5120640" cy="1478280"/>
          </a:xfrm>
          <a:prstGeom prst="roundRect">
            <a:avLst>
              <a:gd name="adj" fmla="val 742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261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HTML, CSS and JavaScript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0272"/>
            <a:ext cx="46634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What: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languages of the browser.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front-end framework is needed for this site.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Where: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templates/, static/style.css and static/script.js.</a:t>
            </a:r>
            <a:endParaRPr lang="en-US" sz="1400" dirty="0"/>
          </a:p>
        </p:txBody>
      </p:sp>
      <p:sp>
        <p:nvSpPr>
          <p:cNvPr id="9" name="Card Chart.js"/>
          <p:cNvSpPr/>
          <p:nvPr/>
        </p:nvSpPr>
        <p:spPr>
          <a:xfrm>
            <a:off x="548640" y="4785360"/>
            <a:ext cx="5120640" cy="1478280"/>
          </a:xfrm>
          <a:prstGeom prst="roundRect">
            <a:avLst>
              <a:gd name="adj" fmla="val 742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968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Chart.js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407152"/>
            <a:ext cx="46634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What: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JavaScript charting library.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Draws bar, line and pie charts from JSON data.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Where: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ten charts on the Analytics page.</a:t>
            </a:r>
            <a:endParaRPr lang="en-US" sz="1400" dirty="0"/>
          </a:p>
        </p:txBody>
      </p:sp>
      <p:pic>
        <p:nvPicPr>
          <p:cNvPr id="12" name="Image css_root" descr="Code: css_ro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96712" cy="4863747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Technologies Used (tools)</a:t>
            </a:r>
            <a:endParaRPr lang="en-US" sz="3200" dirty="0"/>
          </a:p>
        </p:txBody>
      </p:sp>
      <p:sp>
        <p:nvSpPr>
          <p:cNvPr id="3" name="Card Werkzeug security"/>
          <p:cNvSpPr/>
          <p:nvPr/>
        </p:nvSpPr>
        <p:spPr>
          <a:xfrm>
            <a:off x="548640" y="1371600"/>
            <a:ext cx="5120640" cy="1478280"/>
          </a:xfrm>
          <a:prstGeom prst="roundRect">
            <a:avLst>
              <a:gd name="adj" fmla="val 742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Werkzeug security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93392"/>
            <a:ext cx="46634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What: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Password hashing functions.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Passwords are never stored as plain text.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Where: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Register and login.</a:t>
            </a:r>
            <a:endParaRPr lang="en-US" sz="1400" dirty="0"/>
          </a:p>
        </p:txBody>
      </p:sp>
      <p:sp>
        <p:nvSpPr>
          <p:cNvPr id="6" name="Card pytest"/>
          <p:cNvSpPr/>
          <p:nvPr/>
        </p:nvSpPr>
        <p:spPr>
          <a:xfrm>
            <a:off x="548640" y="3078480"/>
            <a:ext cx="5120640" cy="1478280"/>
          </a:xfrm>
          <a:prstGeom prst="roundRect">
            <a:avLst>
              <a:gd name="adj" fmla="val 742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261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pytest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0272"/>
            <a:ext cx="46634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What: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Python testing tool.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Checks the code automatically after every change.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Where: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48 tests in the tests/ folder.</a:t>
            </a:r>
            <a:endParaRPr lang="en-US" sz="1400" dirty="0"/>
          </a:p>
        </p:txBody>
      </p:sp>
      <p:sp>
        <p:nvSpPr>
          <p:cNvPr id="9" name="Card Vercel and TiDB Cloud"/>
          <p:cNvSpPr/>
          <p:nvPr/>
        </p:nvSpPr>
        <p:spPr>
          <a:xfrm>
            <a:off x="548640" y="4785360"/>
            <a:ext cx="5120640" cy="1478280"/>
          </a:xfrm>
          <a:prstGeom prst="roundRect">
            <a:avLst>
              <a:gd name="adj" fmla="val 742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968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Vercel and TiDB Cloud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407152"/>
            <a:ext cx="46634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What: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Hosting for the website and for the database.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Puts the project on the internet for free.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Where: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live website.</a:t>
            </a:r>
            <a:endParaRPr lang="en-US" sz="1400" dirty="0"/>
          </a:p>
        </p:txBody>
      </p:sp>
      <p:pic>
        <p:nvPicPr>
          <p:cNvPr id="12" name="Image register" descr="Code: regi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96712" cy="2389379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Database Design</a:t>
            </a:r>
            <a:endParaRPr lang="en-US" sz="3200" dirty="0"/>
          </a:p>
        </p:txBody>
      </p:sp>
      <p:sp>
        <p:nvSpPr>
          <p:cNvPr id="3" name="Table banks"/>
          <p:cNvSpPr/>
          <p:nvPr/>
        </p:nvSpPr>
        <p:spPr>
          <a:xfrm>
            <a:off x="548640" y="1371600"/>
            <a:ext cx="3063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904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47088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bank_id (primary 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name, short_name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website_url</a:t>
            </a:r>
            <a:endParaRPr lang="en-US" sz="1200" dirty="0"/>
          </a:p>
        </p:txBody>
      </p:sp>
      <p:sp>
        <p:nvSpPr>
          <p:cNvPr id="6" name="Table loan_products"/>
          <p:cNvSpPr/>
          <p:nvPr/>
        </p:nvSpPr>
        <p:spPr>
          <a:xfrm>
            <a:off x="4564228" y="1371600"/>
            <a:ext cx="3063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47108" y="14904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loan_products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47108" y="1847088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product_id (primary 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bank_id (foreign key to banks)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rates, amounts, tenure, fee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source_url, last_updated</a:t>
            </a:r>
            <a:endParaRPr lang="en-US" sz="1200" dirty="0"/>
          </a:p>
        </p:txBody>
      </p:sp>
      <p:sp>
        <p:nvSpPr>
          <p:cNvPr id="9" name="Table loan_rate_history"/>
          <p:cNvSpPr/>
          <p:nvPr/>
        </p:nvSpPr>
        <p:spPr>
          <a:xfrm>
            <a:off x="8579815" y="1371600"/>
            <a:ext cx="3063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62695" y="14904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loan_rate_history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762695" y="1847088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history_id (primary 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product_id (foreign 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changed_by (foreign key to users)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old rates, note, date</a:t>
            </a:r>
            <a:endParaRPr lang="en-US" sz="1200" dirty="0"/>
          </a:p>
        </p:txBody>
      </p:sp>
      <p:sp>
        <p:nvSpPr>
          <p:cNvPr id="12" name="Table comparison_history"/>
          <p:cNvSpPr/>
          <p:nvPr/>
        </p:nvSpPr>
        <p:spPr>
          <a:xfrm>
            <a:off x="548640" y="3977640"/>
            <a:ext cx="3063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0965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comparison_history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453128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history_id (primary 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user_id (foreign key to users)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loan_type, amount, tenure</a:t>
            </a:r>
            <a:endParaRPr lang="en-US" sz="1200" dirty="0"/>
          </a:p>
        </p:txBody>
      </p:sp>
      <p:sp>
        <p:nvSpPr>
          <p:cNvPr id="15" name="Table users"/>
          <p:cNvSpPr/>
          <p:nvPr/>
        </p:nvSpPr>
        <p:spPr>
          <a:xfrm>
            <a:off x="4564228" y="3977640"/>
            <a:ext cx="3063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47108" y="40965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47108" y="4453128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user_id (primary 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full_name, email (unique)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password_hash, is_admin</a:t>
            </a:r>
            <a:endParaRPr lang="en-US" sz="1200" dirty="0"/>
          </a:p>
        </p:txBody>
      </p:sp>
      <p:sp>
        <p:nvSpPr>
          <p:cNvPr id="18" name="Table saved_offers"/>
          <p:cNvSpPr/>
          <p:nvPr/>
        </p:nvSpPr>
        <p:spPr>
          <a:xfrm>
            <a:off x="8579815" y="3977640"/>
            <a:ext cx="3063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62695" y="40965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saved_offers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762695" y="4453128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saved_id (primary key)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user_id, product_id (foreign keys)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UNIQUE (user_id, product_id)</a:t>
            </a:r>
            <a:endParaRPr lang="en-US" sz="1200" dirty="0"/>
          </a:p>
        </p:txBody>
      </p:sp>
      <p:sp>
        <p:nvSpPr>
          <p:cNvPr id="21" name="Arrow"/>
          <p:cNvSpPr/>
          <p:nvPr/>
        </p:nvSpPr>
        <p:spPr>
          <a:xfrm>
            <a:off x="3611880" y="2171700"/>
            <a:ext cx="952348" cy="0"/>
          </a:xfrm>
          <a:prstGeom prst="line">
            <a:avLst/>
          </a:prstGeom>
          <a:noFill/>
          <a:ln w="19050">
            <a:solidFill>
              <a:srgbClr val="566377"/>
            </a:solidFill>
            <a:prstDash val="solid"/>
            <a:tailEnd type="triangle"/>
          </a:ln>
        </p:spPr>
      </p:sp>
      <p:sp>
        <p:nvSpPr>
          <p:cNvPr id="22" name="Arrow"/>
          <p:cNvSpPr/>
          <p:nvPr/>
        </p:nvSpPr>
        <p:spPr>
          <a:xfrm>
            <a:off x="7627468" y="2171700"/>
            <a:ext cx="952348" cy="0"/>
          </a:xfrm>
          <a:prstGeom prst="line">
            <a:avLst/>
          </a:prstGeom>
          <a:noFill/>
          <a:ln w="19050">
            <a:solidFill>
              <a:srgbClr val="566377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 flipH="1">
            <a:off x="3611880" y="4777740"/>
            <a:ext cx="952348" cy="0"/>
          </a:xfrm>
          <a:prstGeom prst="line">
            <a:avLst/>
          </a:prstGeom>
          <a:noFill/>
          <a:ln w="19050">
            <a:solidFill>
              <a:srgbClr val="566377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>
            <a:off x="7627468" y="4777740"/>
            <a:ext cx="952348" cy="0"/>
          </a:xfrm>
          <a:prstGeom prst="line">
            <a:avLst/>
          </a:prstGeom>
          <a:noFill/>
          <a:ln w="19050">
            <a:solidFill>
              <a:srgbClr val="566377"/>
            </a:solidFill>
            <a:prstDash val="solid"/>
            <a:tailEnd type="triangle"/>
          </a:ln>
        </p:spPr>
      </p:sp>
      <p:sp>
        <p:nvSpPr>
          <p:cNvPr id="25" name="Arrow"/>
          <p:cNvSpPr/>
          <p:nvPr/>
        </p:nvSpPr>
        <p:spPr>
          <a:xfrm>
            <a:off x="7353148" y="2971800"/>
            <a:ext cx="1683868" cy="1005840"/>
          </a:xfrm>
          <a:prstGeom prst="line">
            <a:avLst/>
          </a:prstGeom>
          <a:noFill/>
          <a:ln w="19050">
            <a:solidFill>
              <a:srgbClr val="566377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Six tables. Each arrow goes from a parent table to a table that refers to it with a foreign key.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Creating the Tables</a:t>
            </a:r>
            <a:endParaRPr lang="en-US" sz="3200" dirty="0"/>
          </a:p>
        </p:txBody>
      </p:sp>
      <p:pic>
        <p:nvPicPr>
          <p:cNvPr id="3" name="Image sql_products" descr="Code: sql_produ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598947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8138160" y="1371600"/>
            <a:ext cx="350215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PRIMARY KEY: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product_id identifies each loan product.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FOREIGN KEY: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bank_id must match a bank. ON DELETE CASCADE removes a bank's products when the bank is deleted.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ENUM: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loan_type can only be one of the five allowed values.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CHECK constraints: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minimum rate, amount and tenure can never be above the maximum.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Indexes: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 loan_type and bank_id, the columns the comparison filters on.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DECIMAL: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used for money and rates so there are no rounding errors.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Loading the Data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Create the tables and insert the sample data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55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-u root -p &lt; database/lendEase.sql</a:t>
            </a:r>
            <a:endParaRPr lang="en-US" sz="1400" dirty="0"/>
          </a:p>
        </p:txBody>
      </p:sp>
      <p:pic>
        <p:nvPicPr>
          <p:cNvPr id="5" name="Image sql_insert" descr="Code: sql_ins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40280"/>
            <a:ext cx="4278321" cy="15544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486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 Create the demo logins</a:t>
            </a:r>
            <a:endParaRPr lang="en-US" sz="1600" dirty="0"/>
          </a:p>
        </p:txBody>
      </p:sp>
      <p:pic>
        <p:nvPicPr>
          <p:cNvPr id="7" name="Image term_seed" descr="Code: term_se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43400"/>
            <a:ext cx="4267200" cy="11887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54864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Passwords are hashed by the script, never typed into the SQL file.</a:t>
            </a:r>
            <a:endParaRPr lang="en-US" sz="1300" dirty="0"/>
          </a:p>
        </p:txBody>
      </p:sp>
      <p:sp>
        <p:nvSpPr>
          <p:cNvPr id="9" name="Card What gets loaded"/>
          <p:cNvSpPr/>
          <p:nvPr/>
        </p:nvSpPr>
        <p:spPr>
          <a:xfrm>
            <a:off x="6583680" y="1371600"/>
            <a:ext cx="505663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12280" y="155448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gets loaded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6812280" y="1993392"/>
            <a:ext cx="45994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 banks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30 loan products (6 banks x 5 loan types)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 sample rate-history rows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accounts: one admin, one normal user</a:t>
            </a:r>
            <a:endParaRPr lang="en-US" sz="1500" dirty="0"/>
          </a:p>
        </p:txBody>
      </p:sp>
      <p:sp>
        <p:nvSpPr>
          <p:cNvPr id="12" name="Card Example queries included"/>
          <p:cNvSpPr/>
          <p:nvPr/>
        </p:nvSpPr>
        <p:spPr>
          <a:xfrm>
            <a:off x="6583680" y="3931920"/>
            <a:ext cx="5056632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12280" y="411480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Example queries included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4553712"/>
            <a:ext cx="45994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same file ends with a commented query library: JOIN, GROUP BY, INSERT, UPDATE and DELETE examples that can be run in MySQL.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Connecting Flask to MySQL</a:t>
            </a:r>
            <a:endParaRPr lang="en-US" sz="3200" dirty="0"/>
          </a:p>
        </p:txBody>
      </p:sp>
      <p:pic>
        <p:nvPicPr>
          <p:cNvPr id="3" name="Image get_db" descr="Code: get_d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754880" cy="350498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pic>
        <p:nvPicPr>
          <p:cNvPr id="4" name="Image query_execute" descr="Code: query_exec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062472" cy="332922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502920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get_db():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opens one database connection per web request and reuses it for that request.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query():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runs a SELECT and returns the rows as Python dictionaries.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execute():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runs INSERT, UPDATE or DELETE, commits on success and rolls back on error.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EMI Calculation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 = P x r x (1 + r)^n  /  ((1 + r)^n - 1)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P: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loan amount (principal)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r: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monthly interest rate = yearly rate / 12 / 100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n: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number of monthly instalments</a:t>
            </a:r>
            <a:endParaRPr lang="en-US" sz="1500" dirty="0"/>
          </a:p>
        </p:txBody>
      </p:sp>
      <p:sp>
        <p:nvSpPr>
          <p:cNvPr id="5" name="Card Worked example"/>
          <p:cNvSpPr/>
          <p:nvPr/>
        </p:nvSpPr>
        <p:spPr>
          <a:xfrm>
            <a:off x="548640" y="3429000"/>
            <a:ext cx="548640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Worked example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50792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Loan of Rs 30,00,000 at 8.5% for 20 years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 = 8.5 / 12 / 100 = 0.0070833,  n = 240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EMI: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Rs 26,035 a month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Total repaid: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Rs 62,48,328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Total interest: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Rs 32,48,328</a:t>
            </a:r>
            <a:endParaRPr lang="en-US" sz="1500" dirty="0"/>
          </a:p>
        </p:txBody>
      </p:sp>
      <p:pic>
        <p:nvPicPr>
          <p:cNvPr id="8" name="Image calculate_emi" descr="Code: calculate_em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5239512" cy="356622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Loan Comparison Query</a:t>
            </a:r>
            <a:endParaRPr lang="en-US" sz="3200" dirty="0"/>
          </a:p>
        </p:txBody>
      </p:sp>
      <p:pic>
        <p:nvPicPr>
          <p:cNvPr id="3" name="Image compare_products" descr="Code: compare_produ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35675" cy="48920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949440" y="1371600"/>
            <a:ext cx="469087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JOIN: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loan_products is joined with banks to get the bank name for each product.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Optional filters: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amount, tenure, bank and rate conditions are added only when the user fills them in.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Parameterized SQL: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every value is sent through a %s placeholder, which prevents SQL injection.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ORDER BY: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lowest starting rate comes first.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Reused: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same function serves the compare page and the JSON API.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Compare API</a:t>
            </a:r>
            <a:endParaRPr lang="en-US" sz="3200" dirty="0"/>
          </a:p>
        </p:txBody>
      </p:sp>
      <p:pic>
        <p:nvPicPr>
          <p:cNvPr id="3" name="Image api_compare" descr="Code: api_comp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0" cy="4811151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Step 1"/>
          <p:cNvSpPr/>
          <p:nvPr/>
        </p:nvSpPr>
        <p:spPr>
          <a:xfrm>
            <a:off x="7269480" y="1371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2694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137160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Browser sends the filters to /api/compare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7269480" y="2084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6948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084832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Flask checks the inputs (bad input gets a 400 error)</a:t>
            </a:r>
            <a:endParaRPr lang="en-US" sz="1400" dirty="0"/>
          </a:p>
        </p:txBody>
      </p:sp>
      <p:sp>
        <p:nvSpPr>
          <p:cNvPr id="10" name="Step 3"/>
          <p:cNvSpPr/>
          <p:nvPr/>
        </p:nvSpPr>
        <p:spPr>
          <a:xfrm>
            <a:off x="7269480" y="27980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6948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2798064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MySQL returns the matching products</a:t>
            </a:r>
            <a:endParaRPr lang="en-US" sz="1400" dirty="0"/>
          </a:p>
        </p:txBody>
      </p:sp>
      <p:sp>
        <p:nvSpPr>
          <p:cNvPr id="13" name="Step 4"/>
          <p:cNvSpPr/>
          <p:nvPr/>
        </p:nvSpPr>
        <p:spPr>
          <a:xfrm>
            <a:off x="7269480" y="35112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6948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3511296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Flask replies with JSON</a:t>
            </a:r>
            <a:endParaRPr lang="en-US" sz="1400" dirty="0"/>
          </a:p>
        </p:txBody>
      </p:sp>
      <p:sp>
        <p:nvSpPr>
          <p:cNvPr id="16" name="Step 5"/>
          <p:cNvSpPr/>
          <p:nvPr/>
        </p:nvSpPr>
        <p:spPr>
          <a:xfrm>
            <a:off x="7269480" y="42245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6948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818120" y="4224528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script.js draws the result cards</a:t>
            </a:r>
            <a:endParaRPr lang="en-US" sz="1400" dirty="0"/>
          </a:p>
        </p:txBody>
      </p:sp>
      <p:sp>
        <p:nvSpPr>
          <p:cNvPr id="19" name="Card For logged-in users"/>
          <p:cNvSpPr/>
          <p:nvPr/>
        </p:nvSpPr>
        <p:spPr>
          <a:xfrm>
            <a:off x="7269480" y="5029200"/>
            <a:ext cx="4370832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0" y="521208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For logged-in users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5650992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search is also saved to comparison_history.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User Accounts and Passwords</a:t>
            </a:r>
            <a:endParaRPr lang="en-US" sz="3200" dirty="0"/>
          </a:p>
        </p:txBody>
      </p:sp>
      <p:pic>
        <p:nvPicPr>
          <p:cNvPr id="3" name="Image register" descr="Code: regi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41233" cy="22402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pic>
        <p:nvPicPr>
          <p:cNvPr id="4" name="Image login" descr="Code: lo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94760"/>
            <a:ext cx="5285140" cy="24688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6400800" y="1371600"/>
            <a:ext cx="523951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Register: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password is hashed with generate_password_hash before it is stored.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Unique email: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database rejects a second account with the same email, and the page shows a clear message.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Login: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check_password_hash compares the typed password with the stored hash.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Session: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after login, Flask keeps the user id in a signed session cookie.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Safe redirect: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after login the site only follows links that stay on LendEase.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Access Control and Form Protection</a:t>
            </a:r>
            <a:endParaRPr lang="en-US" sz="3200" dirty="0"/>
          </a:p>
        </p:txBody>
      </p:sp>
      <p:pic>
        <p:nvPicPr>
          <p:cNvPr id="3" name="Image login_required" descr="Code: login_requi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206240" cy="3543565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pic>
        <p:nvPicPr>
          <p:cNvPr id="4" name="Image csrf" descr="Code: csr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548208" cy="356616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50749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login_required: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pages such as the dashboard send visitors to the login page first.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admin_required: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admin panel returns 403 Access denied for normal users.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CSRF token: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form carries a secret token, so another website cannot submit forms on a user's behalf.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Saved Offers and Dashboard</a:t>
            </a:r>
            <a:endParaRPr lang="en-US" sz="3200" dirty="0"/>
          </a:p>
        </p:txBody>
      </p:sp>
      <p:pic>
        <p:nvPicPr>
          <p:cNvPr id="3" name="Image save_offer" descr="Code: save_off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120640" cy="354001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pic>
        <p:nvPicPr>
          <p:cNvPr id="4" name="Image dashboard_sql" descr="Code: dashboard_sq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696712" cy="2542081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502920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Save: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 INSERT into saved_offers. UNIQUE (user_id, product_id) makes saving the same offer twice harmless.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Dashboard: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three-table JOIN (saved_offers, loan_products, banks) lists the user's saved offers.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History: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each search is stored, and Run again repeats it against the current rates.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Admin Panel: CRUD and Rate History</a:t>
            </a:r>
            <a:endParaRPr lang="en-US" sz="3200" dirty="0"/>
          </a:p>
        </p:txBody>
      </p:sp>
      <p:pic>
        <p:nvPicPr>
          <p:cNvPr id="3" name="Image rate_history" descr="Code: rate_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692471" cy="32461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pic>
        <p:nvPicPr>
          <p:cNvPr id="4" name="Image admin_delete" descr="Code: admin_dele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46320"/>
            <a:ext cx="3793074" cy="14173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6949440" y="1371600"/>
            <a:ext cx="469087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Create, Read, Update, Delete: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admins manage banks and loan products through forms.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Validation: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form rejects a minimum above the maximum and a missing source URL.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Audit trail: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when a rate or fee changes, a row is added to loan_rate_history with who changed it and why.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Cascade: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deleting a bank also deletes its loan products.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Analysis with SQL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Analytics page is built on aggregate queries. GROUP BY puts rows into groups, and AVG and COUNT summarise each group.</a:t>
            </a:r>
            <a:endParaRPr lang="en-US" sz="1500" dirty="0"/>
          </a:p>
        </p:txBody>
      </p:sp>
      <p:pic>
        <p:nvPicPr>
          <p:cNvPr id="4" name="Image analytics_groupby" descr="Code: analytics_groupb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5486400" cy="1910621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pic>
        <p:nvPicPr>
          <p:cNvPr id="5" name="Image analytics_pies" descr="Code: analytics_p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03120"/>
            <a:ext cx="5330952" cy="3838865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548640" y="43434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AVG by loan type: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average starting rate of each kind of loan.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COUNT by loan type: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which loans users search for most.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COUNT by bank: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which banks' offers users save most.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Drawing Graphs and Pie Charts</a:t>
            </a:r>
            <a:endParaRPr lang="en-US" sz="3200" dirty="0"/>
          </a:p>
        </p:txBody>
      </p:sp>
      <p:pic>
        <p:nvPicPr>
          <p:cNvPr id="3" name="Image js_rates_chart" descr="Code: js_rates_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43600" cy="288570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pic>
        <p:nvPicPr>
          <p:cNvPr id="4" name="Image js_pie" descr="Code: js_p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4919472" cy="284959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Ten charts on one page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937760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Bar charts: rate range, monthly EMI, processing fee, average rate by loan type and by bank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Line graphs: how EMI and total interest change with tenure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Pie charts: principal against interest, most searched loan types, saved offers by bank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Design Using HTML, CSS and JavaScript</a:t>
            </a:r>
            <a:endParaRPr lang="en-US" sz="3200" dirty="0"/>
          </a:p>
        </p:txBody>
      </p:sp>
      <p:pic>
        <p:nvPicPr>
          <p:cNvPr id="3" name="Image html_home" descr="Code: html_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2678797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pic>
        <p:nvPicPr>
          <p:cNvPr id="4" name="Image js_emi" descr="Code: js_em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06240"/>
            <a:ext cx="3812241" cy="20574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4754880" y="4206240"/>
            <a:ext cx="68854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HTML: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Jinja templates (top) fill each page with data sent by Flask.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CSS: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one stylesheet, static/style.css, holds the shared colours, buttons and layouts.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JavaScript: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same EMI formula runs in the browser (left), so results update as you type.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Testing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What: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48 automated tests written with pytest.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Why: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they re-check the whole application in about a second after every change.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2"/>
                </a:solidFill>
              </a:rPr>
              <a:t>How: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fake database stands in for MySQL, so the tests run anywhere.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 is tested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05072"/>
            <a:ext cx="4297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EMI formula against a hand calculation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 input checks and SQL parameters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Login, wrong password, CSRF protection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 pages blocked for normal users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page opens without errors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Analytics data and CSV downloads</a:t>
            </a:r>
            <a:endParaRPr lang="en-US" sz="1400" dirty="0"/>
          </a:p>
        </p:txBody>
      </p:sp>
      <p:pic>
        <p:nvPicPr>
          <p:cNvPr id="6" name="Image term_pytest" descr="Code: term_pyt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371600"/>
            <a:ext cx="6519672" cy="3389963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Test Results</a:t>
            </a:r>
            <a:endParaRPr lang="en-US" sz="3200" dirty="0"/>
          </a:p>
        </p:txBody>
      </p:sp>
      <p:pic>
        <p:nvPicPr>
          <p:cNvPr id="3" name="Image test_emi" descr="Code: test_em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92240" cy="2435507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pic>
        <p:nvPicPr>
          <p:cNvPr id="4" name="Image term_pytest_all" descr="Code: term_pytest_a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069080"/>
            <a:ext cx="6492240" cy="102108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53492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first test checks the EMI formula against the value worked out by hand: Rs 26,034.70 for Rs 30 lakh at 8.5% over 240 months.</a:t>
            </a:r>
            <a:endParaRPr lang="en-US" sz="1400" dirty="0"/>
          </a:p>
        </p:txBody>
      </p:sp>
      <p:sp>
        <p:nvSpPr>
          <p:cNvPr id="6" name="Card Result"/>
          <p:cNvSpPr/>
          <p:nvPr/>
        </p:nvSpPr>
        <p:spPr>
          <a:xfrm>
            <a:off x="7498080" y="1371600"/>
            <a:ext cx="4142232" cy="4800600"/>
          </a:xfrm>
          <a:prstGeom prst="roundRect">
            <a:avLst>
              <a:gd name="adj" fmla="val 264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26680" y="1554480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Result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772400" y="20116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6600" dirty="0"/>
          </a:p>
        </p:txBody>
      </p:sp>
      <p:sp>
        <p:nvSpPr>
          <p:cNvPr id="9" name="Text 5"/>
          <p:cNvSpPr txBox="1"/>
          <p:nvPr/>
        </p:nvSpPr>
        <p:spPr>
          <a:xfrm>
            <a:off x="77724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tests passed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3840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0" y="4892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tests failed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Deployment</a:t>
            </a:r>
            <a:endParaRPr lang="en-US" sz="3200" dirty="0"/>
          </a:p>
        </p:txBody>
      </p:sp>
      <p:sp>
        <p:nvSpPr>
          <p:cNvPr id="3" name="Node User's browser"/>
          <p:cNvSpPr/>
          <p:nvPr/>
        </p:nvSpPr>
        <p:spPr>
          <a:xfrm>
            <a:off x="548640" y="1508760"/>
            <a:ext cx="31089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User's browser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Opens lendease-ten.vercel.app</a:t>
            </a:r>
            <a:endParaRPr lang="en-US" sz="1400" dirty="0"/>
          </a:p>
        </p:txBody>
      </p:sp>
      <p:sp>
        <p:nvSpPr>
          <p:cNvPr id="6" name="Node Vercel"/>
          <p:cNvSpPr/>
          <p:nvPr/>
        </p:nvSpPr>
        <p:spPr>
          <a:xfrm>
            <a:off x="4541368" y="1508760"/>
            <a:ext cx="310896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69968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Vercel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769968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Runs the Flask app (app.py)</a:t>
            </a:r>
            <a:endParaRPr lang="en-US" sz="1400" dirty="0"/>
          </a:p>
        </p:txBody>
      </p:sp>
      <p:sp>
        <p:nvSpPr>
          <p:cNvPr id="9" name="Node TiDB Cloud"/>
          <p:cNvSpPr/>
          <p:nvPr/>
        </p:nvSpPr>
        <p:spPr>
          <a:xfrm>
            <a:off x="8534095" y="1508760"/>
            <a:ext cx="31089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62695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TiDB Cloud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762695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Hosted MySQL-compatible database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3657600" y="2286000"/>
            <a:ext cx="883768" cy="0"/>
          </a:xfrm>
          <a:prstGeom prst="line">
            <a:avLst/>
          </a:prstGeom>
          <a:noFill/>
          <a:ln w="19050">
            <a:solidFill>
              <a:srgbClr val="566377"/>
            </a:solidFill>
            <a:prstDash val="solid"/>
            <a:tailEnd type="triangle"/>
          </a:ln>
        </p:spPr>
      </p:sp>
      <p:sp>
        <p:nvSpPr>
          <p:cNvPr id="13" name="Arrow"/>
          <p:cNvSpPr/>
          <p:nvPr/>
        </p:nvSpPr>
        <p:spPr>
          <a:xfrm>
            <a:off x="7650328" y="2286000"/>
            <a:ext cx="883768" cy="0"/>
          </a:xfrm>
          <a:prstGeom prst="line">
            <a:avLst/>
          </a:prstGeom>
          <a:noFill/>
          <a:ln w="19050">
            <a:solidFill>
              <a:srgbClr val="566377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48640" y="3520440"/>
            <a:ext cx="110944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Hosting: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Vercel finds the Flask app in app.py and serves it on a public address.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Database: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Vercel does not host MySQL, so the data lives on TiDB Cloud and is reached over an encrypted (TLS) connection.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Settings: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database URL and the secret key are stored as environment variables, not in the code.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Loading the cloud database: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scripts/init_db.py creates the tables, inserts the data and seeds the demo logins.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Running the Website from the Terminal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13716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install Flask and PyMySQL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385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-u root -p &lt; database/lendEase.sql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9385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create the tables and data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548640" y="25054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0545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scripts/seed_admin.py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5054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create the demo logins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54864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7238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--app app run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07238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start the website</a:t>
            </a:r>
            <a:endParaRPr lang="en-US" sz="1400" dirty="0"/>
          </a:p>
        </p:txBody>
      </p:sp>
      <p:pic>
        <p:nvPicPr>
          <p:cNvPr id="19" name="Image term_run" descr="Code: term_ru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0"/>
            <a:ext cx="8814216" cy="18288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20" name="Text 17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The site then opens at http://127.0.0.1:5000. Each line at the bottom is one page request and its status code.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Screenshots: Home Page</a:t>
            </a:r>
            <a:endParaRPr lang="en-US" sz="3200" dirty="0"/>
          </a:p>
        </p:txBody>
      </p:sp>
      <p:pic>
        <p:nvPicPr>
          <p:cNvPr id="3" name="Image home_hero" descr="Screenshot: home_h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858000" cy="321468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Frame home_hero"/>
          <p:cNvSpPr/>
          <p:nvPr/>
        </p:nvSpPr>
        <p:spPr>
          <a:xfrm>
            <a:off x="548640" y="1371600"/>
            <a:ext cx="6858000" cy="3214688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pic>
        <p:nvPicPr>
          <p:cNvPr id="5" name="Image home_types" descr="Screenshot: home_typ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3959352" cy="1655419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6" name="Frame home_types"/>
          <p:cNvSpPr/>
          <p:nvPr/>
        </p:nvSpPr>
        <p:spPr>
          <a:xfrm>
            <a:off x="7680960" y="1371600"/>
            <a:ext cx="3959352" cy="1655419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7" name="Card On the home page"/>
          <p:cNvSpPr/>
          <p:nvPr/>
        </p:nvSpPr>
        <p:spPr>
          <a:xfrm>
            <a:off x="7680960" y="3301339"/>
            <a:ext cx="3959352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909560" y="3484219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On the home page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909560" y="3923131"/>
            <a:ext cx="3502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quick EMI estimate that updates as the sliders move.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Each loan type with its lowest rate, read from the database.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7874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Top of the home page: headline, buttons and the EMI panel.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Screenshots: Compare Loans</a:t>
            </a:r>
            <a:endParaRPr lang="en-US" sz="3200" dirty="0"/>
          </a:p>
        </p:txBody>
      </p:sp>
      <p:pic>
        <p:nvPicPr>
          <p:cNvPr id="3" name="Image compare_top" descr="Screenshot: compare_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22720" cy="48920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Frame compare_top"/>
          <p:cNvSpPr/>
          <p:nvPr/>
        </p:nvSpPr>
        <p:spPr>
          <a:xfrm>
            <a:off x="548640" y="1371600"/>
            <a:ext cx="6522720" cy="4892040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5" name="Card On this page"/>
          <p:cNvSpPr/>
          <p:nvPr/>
        </p:nvSpPr>
        <p:spPr>
          <a:xfrm>
            <a:off x="7437120" y="1371600"/>
            <a:ext cx="4205935" cy="48920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65720" y="1554480"/>
            <a:ext cx="374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On this page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665720" y="1993392"/>
            <a:ext cx="37487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Filters: loan type, amount, tenure, bank and maximum rate.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Results come from /api/compare without reloading the page.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Each result shows the rate range, the estimated EMI and a link to the source.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cheapest offer is highlighted.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Results can be sorted by rate, EMI or fee.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Screenshots: Loan Details and EMI Calculator</a:t>
            </a:r>
            <a:endParaRPr lang="en-US" sz="3200" dirty="0"/>
          </a:p>
        </p:txBody>
      </p:sp>
      <p:pic>
        <p:nvPicPr>
          <p:cNvPr id="3" name="Image detail" descr="Screenshot: 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4250531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Frame detail"/>
          <p:cNvSpPr/>
          <p:nvPr/>
        </p:nvSpPr>
        <p:spPr>
          <a:xfrm>
            <a:off x="548640" y="1371600"/>
            <a:ext cx="5440680" cy="4250531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pic>
        <p:nvPicPr>
          <p:cNvPr id="5" name="Image emi" descr="Screenshot: em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48543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6" name="Frame emi"/>
          <p:cNvSpPr/>
          <p:nvPr/>
        </p:nvSpPr>
        <p:spPr>
          <a:xfrm>
            <a:off x="6199632" y="1371600"/>
            <a:ext cx="5440680" cy="3485436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5823299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Left: one loan product with its source and last-updated date. Right: the EMI calculator page.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Screenshots: Login and Register</a:t>
            </a:r>
            <a:endParaRPr lang="en-US" sz="3200" dirty="0"/>
          </a:p>
        </p:txBody>
      </p:sp>
      <p:pic>
        <p:nvPicPr>
          <p:cNvPr id="3" name="Image login" descr="Screenshot: 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3060383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Frame login"/>
          <p:cNvSpPr/>
          <p:nvPr/>
        </p:nvSpPr>
        <p:spPr>
          <a:xfrm>
            <a:off x="548640" y="1371600"/>
            <a:ext cx="5440680" cy="3060383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pic>
        <p:nvPicPr>
          <p:cNvPr id="5" name="Image register" descr="Screenshot: regi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71600"/>
            <a:ext cx="5440680" cy="382547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6" name="Frame register"/>
          <p:cNvSpPr/>
          <p:nvPr/>
        </p:nvSpPr>
        <p:spPr>
          <a:xfrm>
            <a:off x="6199632" y="1371600"/>
            <a:ext cx="5440680" cy="3825478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539824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Passwords are hashed before they are stored.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Screenshots: User Dashboard</a:t>
            </a:r>
            <a:endParaRPr lang="en-US" sz="3200" dirty="0"/>
          </a:p>
        </p:txBody>
      </p:sp>
      <p:pic>
        <p:nvPicPr>
          <p:cNvPr id="3" name="Image dashboard_saved" descr="Screenshot: dashboard_sav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4337685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Frame dashboard_saved"/>
          <p:cNvSpPr/>
          <p:nvPr/>
        </p:nvSpPr>
        <p:spPr>
          <a:xfrm>
            <a:off x="548640" y="1371600"/>
            <a:ext cx="6035040" cy="4337685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pic>
        <p:nvPicPr>
          <p:cNvPr id="5" name="Image dashboard_history" descr="Screenshot: dashboard_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82312" cy="1010057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6" name="Frame dashboard_history"/>
          <p:cNvSpPr/>
          <p:nvPr/>
        </p:nvSpPr>
        <p:spPr>
          <a:xfrm>
            <a:off x="6858000" y="1371600"/>
            <a:ext cx="4782312" cy="1010057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5910453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Left: offers the user has saved. Right: recent comparisons, each with a Run again button.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Screenshots: Admin Panel</a:t>
            </a:r>
            <a:endParaRPr lang="en-US" sz="3200" dirty="0"/>
          </a:p>
        </p:txBody>
      </p:sp>
      <p:pic>
        <p:nvPicPr>
          <p:cNvPr id="3" name="Image admin" descr="Screenshot: adm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4250531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Frame admin"/>
          <p:cNvSpPr/>
          <p:nvPr/>
        </p:nvSpPr>
        <p:spPr>
          <a:xfrm>
            <a:off x="548640" y="1371600"/>
            <a:ext cx="5440680" cy="4250531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pic>
        <p:nvPicPr>
          <p:cNvPr id="5" name="Image admin_edit" descr="Screenshot: admin_ed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036" y="1371600"/>
            <a:ext cx="4541276" cy="44348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6" name="Frame admin_edit"/>
          <p:cNvSpPr/>
          <p:nvPr/>
        </p:nvSpPr>
        <p:spPr>
          <a:xfrm>
            <a:off x="7099036" y="1371600"/>
            <a:ext cx="4541276" cy="4434840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Left: totals and the recent rate changes. Right: the form for editing a loan product.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Screenshots: Analytics Page</a:t>
            </a:r>
            <a:endParaRPr lang="en-US" sz="3200" dirty="0"/>
          </a:p>
        </p:txBody>
      </p:sp>
      <p:pic>
        <p:nvPicPr>
          <p:cNvPr id="3" name="Image analytics_top" descr="Screenshot: analytics_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896244" cy="48920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Frame analytics_top"/>
          <p:cNvSpPr/>
          <p:nvPr/>
        </p:nvSpPr>
        <p:spPr>
          <a:xfrm>
            <a:off x="548640" y="1371600"/>
            <a:ext cx="5896244" cy="4892040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5" name="Card Filters and headline numbers"/>
          <p:cNvSpPr/>
          <p:nvPr/>
        </p:nvSpPr>
        <p:spPr>
          <a:xfrm>
            <a:off x="6810644" y="1371600"/>
            <a:ext cx="4832411" cy="4892040"/>
          </a:xfrm>
          <a:prstGeom prst="roundRect">
            <a:avLst>
              <a:gd name="adj" fmla="val 227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39244" y="1554480"/>
            <a:ext cx="43752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Filters and headline numbers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039244" y="1993392"/>
            <a:ext cx="4375211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Choosing a loan type, amount and tenure redraws every chart.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Three headline numbers: lowest rate, lowest EMI and average rate.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Bar chart 1: each bank's lowest and highest rate.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Bar chart 2: monthly EMI at each bank's starting rate.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Screenshots: Analytics Graphs</a:t>
            </a:r>
            <a:endParaRPr lang="en-US" sz="3200" dirty="0"/>
          </a:p>
        </p:txBody>
      </p:sp>
      <p:pic>
        <p:nvPicPr>
          <p:cNvPr id="3" name="Image analytics_mid" descr="Screenshot: analytics_m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98566" cy="48920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Frame analytics_mid"/>
          <p:cNvSpPr/>
          <p:nvPr/>
        </p:nvSpPr>
        <p:spPr>
          <a:xfrm>
            <a:off x="548640" y="1371600"/>
            <a:ext cx="6598566" cy="4892040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5" name="Card What the graphs show"/>
          <p:cNvSpPr/>
          <p:nvPr/>
        </p:nvSpPr>
        <p:spPr>
          <a:xfrm>
            <a:off x="7512966" y="1371600"/>
            <a:ext cx="4130090" cy="4892040"/>
          </a:xfrm>
          <a:prstGeom prst="roundRect">
            <a:avLst>
              <a:gd name="adj" fmla="val 2657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41566" y="1554480"/>
            <a:ext cx="36728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What the graphs show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41566" y="1993392"/>
            <a:ext cx="367289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Pie: how the total repayment splits into principal and interest.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Line graph: a longer tenure lowers the monthly EMI.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Line graph: but a longer tenure increases the total interest paid.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Bar chart: processing fee charged by each bank.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Screenshots: Analytics Average Rates</a:t>
            </a:r>
            <a:endParaRPr lang="en-US" sz="3200" dirty="0"/>
          </a:p>
        </p:txBody>
      </p:sp>
      <p:pic>
        <p:nvPicPr>
          <p:cNvPr id="3" name="Image analytics_avg" descr="Screenshot: analytics_av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56" y="1371600"/>
            <a:ext cx="10899183" cy="44348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Frame analytics_avg"/>
          <p:cNvSpPr/>
          <p:nvPr/>
        </p:nvSpPr>
        <p:spPr>
          <a:xfrm>
            <a:off x="646256" y="1371600"/>
            <a:ext cx="10899183" cy="4434840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Average starting rates by loan type and by bank, each from a GROUP BY query. Home loans are the cheapest and business loans the most expensive.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Screenshots: Analytics Pie Charts</a:t>
            </a:r>
            <a:endParaRPr lang="en-US" sz="3200" dirty="0"/>
          </a:p>
        </p:txBody>
      </p:sp>
      <p:pic>
        <p:nvPicPr>
          <p:cNvPr id="3" name="Image analytics_pies" descr="Screenshot: analytics_p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56" y="1371600"/>
            <a:ext cx="10899183" cy="44348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4" name="Frame analytics_pies"/>
          <p:cNvSpPr/>
          <p:nvPr/>
        </p:nvSpPr>
        <p:spPr>
          <a:xfrm>
            <a:off x="646256" y="1371600"/>
            <a:ext cx="10899183" cy="4434840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Left: share of searches for each loan type. Right: share of saved offers for each bank. Both count rows with GROUP BY.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Running Website: Comparing Home Loans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Entering Home Loan, Rs 30,00,000 and 240 months, then clicking Compare</a:t>
            </a:r>
            <a:endParaRPr lang="en-US" sz="1600" dirty="0"/>
          </a:p>
        </p:txBody>
      </p:sp>
      <p:pic>
        <p:nvPicPr>
          <p:cNvPr id="4" name="Image compare_top" descr="Screenshot: compare_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791200" cy="43434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5" name="Frame compare_top"/>
          <p:cNvSpPr/>
          <p:nvPr/>
        </p:nvSpPr>
        <p:spPr>
          <a:xfrm>
            <a:off x="548640" y="1874520"/>
            <a:ext cx="5791200" cy="4343400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6" name="Card Result"/>
          <p:cNvSpPr/>
          <p:nvPr/>
        </p:nvSpPr>
        <p:spPr>
          <a:xfrm>
            <a:off x="7635240" y="1874520"/>
            <a:ext cx="4005072" cy="434340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2057400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Result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496312"/>
            <a:ext cx="354787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 products found, lowest starting rate first.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Lowest rate: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Punjab National Bank, 8.45% to 10.25%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Estimated EMI: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Rs 25,940 to Rs 29,449 a month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cheapest offer is highlighted and labelled Lowest starting rate.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Running Website: EMI Calculator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Entering Rs 30,00,000 at 8.5% for 20 years in the EMI calculator</a:t>
            </a:r>
            <a:endParaRPr lang="en-US" sz="1600" dirty="0"/>
          </a:p>
        </p:txBody>
      </p:sp>
      <p:pic>
        <p:nvPicPr>
          <p:cNvPr id="4" name="Image emi" descr="Screenshot: em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766560" cy="433482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A2342">
                <a:alpha val="18000"/>
              </a:srgbClr>
            </a:outerShdw>
          </a:effectLst>
        </p:spPr>
      </p:pic>
      <p:sp>
        <p:nvSpPr>
          <p:cNvPr id="5" name="Frame emi"/>
          <p:cNvSpPr/>
          <p:nvPr/>
        </p:nvSpPr>
        <p:spPr>
          <a:xfrm>
            <a:off x="548640" y="1874520"/>
            <a:ext cx="6766560" cy="4334828"/>
          </a:xfrm>
          <a:prstGeom prst="rect">
            <a:avLst/>
          </a:prstGeom>
          <a:noFill/>
          <a:ln w="9525">
            <a:solidFill>
              <a:srgbClr val="D9E1EB"/>
            </a:solidFill>
            <a:prstDash val="solid"/>
          </a:ln>
        </p:spPr>
      </p:sp>
      <p:sp>
        <p:nvSpPr>
          <p:cNvPr id="6" name="Card Result"/>
          <p:cNvSpPr/>
          <p:nvPr/>
        </p:nvSpPr>
        <p:spPr>
          <a:xfrm>
            <a:off x="7635240" y="1874520"/>
            <a:ext cx="4005072" cy="434340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2057400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Result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496312"/>
            <a:ext cx="354787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Monthly EMI: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Rs 26,035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Total interest: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Rs 32,48,328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Total payable: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Rs 62,48,328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same figures as the hand calculation, so the formula on the website is correct.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Summary</a:t>
            </a:r>
            <a:endParaRPr lang="en-US" sz="3200" dirty="0"/>
          </a:p>
        </p:txBody>
      </p:sp>
      <p:sp>
        <p:nvSpPr>
          <p:cNvPr id="3" name="Stat database tables"/>
          <p:cNvSpPr/>
          <p:nvPr/>
        </p:nvSpPr>
        <p:spPr>
          <a:xfrm>
            <a:off x="548640" y="146304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database tables</a:t>
            </a:r>
            <a:endParaRPr lang="en-US" sz="1400" dirty="0"/>
          </a:p>
        </p:txBody>
      </p:sp>
      <p:sp>
        <p:nvSpPr>
          <p:cNvPr id="6" name="Stat loan products"/>
          <p:cNvSpPr/>
          <p:nvPr/>
        </p:nvSpPr>
        <p:spPr>
          <a:xfrm>
            <a:off x="3374136" y="146304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48456" y="1737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648456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loan products</a:t>
            </a:r>
            <a:endParaRPr lang="en-US" sz="1400" dirty="0"/>
          </a:p>
        </p:txBody>
      </p:sp>
      <p:sp>
        <p:nvSpPr>
          <p:cNvPr id="9" name="Stat graphs and pie charts"/>
          <p:cNvSpPr/>
          <p:nvPr/>
        </p:nvSpPr>
        <p:spPr>
          <a:xfrm>
            <a:off x="6199632" y="146304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1737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graphs and pie charts</a:t>
            </a:r>
            <a:endParaRPr lang="en-US" sz="1400" dirty="0"/>
          </a:p>
        </p:txBody>
      </p:sp>
      <p:sp>
        <p:nvSpPr>
          <p:cNvPr id="12" name="Stat tests passed"/>
          <p:cNvSpPr/>
          <p:nvPr/>
        </p:nvSpPr>
        <p:spPr>
          <a:xfrm>
            <a:off x="9025128" y="1463040"/>
            <a:ext cx="2606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99448" y="17373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299448" y="2606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tests passed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Built: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full website with loan comparison, EMI calculator, accounts, saved offers, an admin panel and analytics.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Database: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MySQL with keys, constraints, JOINs and GROUP BY, using raw parameterized SQL.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Live: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hosted on Vercel with a cloud database at lendease-ten.vercel.app.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Future scope: 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live rates from bank APIs, an eligibility checker and email alerts when a rate changes.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LendEase: Loan Comparison &amp; Financial Analytics Platform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dEase">
  <a:themeElements>
    <a:clrScheme name="LendEase">
      <a:dk1>
        <a:srgbClr val="13202F"/>
      </a:dk1>
      <a:lt1>
        <a:srgbClr val="FFFFFF"/>
      </a:lt1>
      <a:dk2>
        <a:srgbClr val="0A2342"/>
      </a:dk2>
      <a:lt2>
        <a:srgbClr val="F3F6FA"/>
      </a:lt2>
      <a:accent1>
        <a:srgbClr val="087268"/>
      </a:accent1>
      <a:accent2>
        <a:srgbClr val="F2A33A"/>
      </a:accent2>
      <a:accent3>
        <a:srgbClr val="5EEAD4"/>
      </a:accent3>
      <a:accent4>
        <a:srgbClr val="566377"/>
      </a:accent4>
      <a:accent5>
        <a:srgbClr val="E4EBF5"/>
      </a:accent5>
      <a:accent6>
        <a:srgbClr val="B7351F"/>
      </a:accent6>
      <a:hlink>
        <a:srgbClr val="087268"/>
      </a:hlink>
      <a:folHlink>
        <a:srgbClr val="566377"/>
      </a:folHlink>
    </a:clrScheme>
    <a:fontScheme name="LendEas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LendEase: Loan Comparison &amp; Financial Analytics Platform</dc:title>
  <dc:subject>College project presentation</dc:subject>
  <dc:creator>PptxGenJS</dc:creator>
  <cp:lastModifiedBy>PptxGenJS</cp:lastModifiedBy>
  <cp:revision>1</cp:revision>
  <dcterms:created xsi:type="dcterms:W3CDTF">2026-10-04T09:12:50Z</dcterms:created>
  <dcterms:modified xsi:type="dcterms:W3CDTF">2026-10-04T09:12:50Z</dcterms:modified>
</cp:coreProperties>
</file>